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F7BDB4-3AD3-4E84-9493-A34D37552C3B}" v="90" dt="2026-07-14T02:02:05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43" autoAdjust="0"/>
    <p:restoredTop sz="94694" autoAdjust="0"/>
  </p:normalViewPr>
  <p:slideViewPr>
    <p:cSldViewPr snapToGrid="0" snapToObjects="1">
      <p:cViewPr varScale="1">
        <p:scale>
          <a:sx n="93" d="100"/>
          <a:sy n="93" d="100"/>
        </p:scale>
        <p:origin x="77" y="2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ine Ward" userId="b8108188a7264f06" providerId="LiveId" clId="{2920E0A5-57BD-4727-A11C-7581BF6B936C}"/>
    <pc:docChg chg="undo custSel delSld modSld modMainMaster">
      <pc:chgData name="Antoine Ward" userId="b8108188a7264f06" providerId="LiveId" clId="{2920E0A5-57BD-4727-A11C-7581BF6B936C}" dt="2026-07-14T02:11:27.880" v="352" actId="207"/>
      <pc:docMkLst>
        <pc:docMk/>
      </pc:docMkLst>
      <pc:sldChg chg="modSp mod setBg">
        <pc:chgData name="Antoine Ward" userId="b8108188a7264f06" providerId="LiveId" clId="{2920E0A5-57BD-4727-A11C-7581BF6B936C}" dt="2026-07-14T02:11:27.880" v="352" actId="207"/>
        <pc:sldMkLst>
          <pc:docMk/>
          <pc:sldMk cId="0" sldId="256"/>
        </pc:sldMkLst>
        <pc:spChg chg="mod">
          <ac:chgData name="Antoine Ward" userId="b8108188a7264f06" providerId="LiveId" clId="{2920E0A5-57BD-4727-A11C-7581BF6B936C}" dt="2026-07-14T02:06:40.305" v="281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06:46.338" v="282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11:27.880" v="352" actId="20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ntoine Ward" userId="b8108188a7264f06" providerId="LiveId" clId="{2920E0A5-57BD-4727-A11C-7581BF6B936C}" dt="2026-07-14T02:06:32.874" v="280" actId="113"/>
        <pc:sldMkLst>
          <pc:docMk/>
          <pc:sldMk cId="0" sldId="257"/>
        </pc:sldMkLst>
        <pc:spChg chg="mod">
          <ac:chgData name="Antoine Ward" userId="b8108188a7264f06" providerId="LiveId" clId="{2920E0A5-57BD-4727-A11C-7581BF6B936C}" dt="2026-07-14T02:06:32.874" v="280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00:34.272" v="125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ntoine Ward" userId="b8108188a7264f06" providerId="LiveId" clId="{2920E0A5-57BD-4727-A11C-7581BF6B936C}" dt="2026-07-14T02:06:20.671" v="273" actId="113"/>
        <pc:sldMkLst>
          <pc:docMk/>
          <pc:sldMk cId="0" sldId="258"/>
        </pc:sldMkLst>
        <pc:spChg chg="mod">
          <ac:chgData name="Antoine Ward" userId="b8108188a7264f06" providerId="LiveId" clId="{2920E0A5-57BD-4727-A11C-7581BF6B936C}" dt="2026-07-14T02:06:20.671" v="273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00:34.272" v="12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ntoine Ward" userId="b8108188a7264f06" providerId="LiveId" clId="{2920E0A5-57BD-4727-A11C-7581BF6B936C}" dt="2026-07-14T02:06:09.540" v="268" actId="113"/>
        <pc:sldMkLst>
          <pc:docMk/>
          <pc:sldMk cId="0" sldId="259"/>
        </pc:sldMkLst>
        <pc:spChg chg="mod">
          <ac:chgData name="Antoine Ward" userId="b8108188a7264f06" providerId="LiveId" clId="{2920E0A5-57BD-4727-A11C-7581BF6B936C}" dt="2026-07-14T02:06:09.540" v="268" actId="113"/>
          <ac:spMkLst>
            <pc:docMk/>
            <pc:sldMk cId="0" sldId="259"/>
            <ac:spMk id="2" creationId="{00000000-0000-0000-0000-000000000000}"/>
          </ac:spMkLst>
        </pc:spChg>
      </pc:sldChg>
      <pc:sldChg chg="addSp modSp mod">
        <pc:chgData name="Antoine Ward" userId="b8108188a7264f06" providerId="LiveId" clId="{2920E0A5-57BD-4727-A11C-7581BF6B936C}" dt="2026-07-14T02:11:06.956" v="351" actId="14100"/>
        <pc:sldMkLst>
          <pc:docMk/>
          <pc:sldMk cId="0" sldId="260"/>
        </pc:sldMkLst>
        <pc:spChg chg="mod">
          <ac:chgData name="Antoine Ward" userId="b8108188a7264f06" providerId="LiveId" clId="{2920E0A5-57BD-4727-A11C-7581BF6B936C}" dt="2026-07-14T02:10:59.778" v="350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11:06.956" v="351" actId="14100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Antoine Ward" userId="b8108188a7264f06" providerId="LiveId" clId="{2920E0A5-57BD-4727-A11C-7581BF6B936C}" dt="2026-07-14T02:04:19.036" v="218" actId="1076"/>
          <ac:spMkLst>
            <pc:docMk/>
            <pc:sldMk cId="0" sldId="260"/>
            <ac:spMk id="5" creationId="{53DB7989-5142-B288-9065-2A2AA84AEF65}"/>
          </ac:spMkLst>
        </pc:spChg>
      </pc:sldChg>
      <pc:sldChg chg="modSp del mod">
        <pc:chgData name="Antoine Ward" userId="b8108188a7264f06" providerId="LiveId" clId="{2920E0A5-57BD-4727-A11C-7581BF6B936C}" dt="2026-07-14T02:04:24.869" v="219" actId="2696"/>
        <pc:sldMkLst>
          <pc:docMk/>
          <pc:sldMk cId="0" sldId="261"/>
        </pc:sldMkLst>
        <pc:spChg chg="mod">
          <ac:chgData name="Antoine Ward" userId="b8108188a7264f06" providerId="LiveId" clId="{2920E0A5-57BD-4727-A11C-7581BF6B936C}" dt="2026-07-14T02:03:25.116" v="211" actId="21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ntoine Ward" userId="b8108188a7264f06" providerId="LiveId" clId="{2920E0A5-57BD-4727-A11C-7581BF6B936C}" dt="2026-07-14T02:05:47.021" v="258" actId="113"/>
        <pc:sldMkLst>
          <pc:docMk/>
          <pc:sldMk cId="0" sldId="262"/>
        </pc:sldMkLst>
        <pc:spChg chg="mod">
          <ac:chgData name="Antoine Ward" userId="b8108188a7264f06" providerId="LiveId" clId="{2920E0A5-57BD-4727-A11C-7581BF6B936C}" dt="2026-07-14T02:05:47.021" v="258" actId="113"/>
          <ac:spMkLst>
            <pc:docMk/>
            <pc:sldMk cId="0" sldId="262"/>
            <ac:spMk id="2" creationId="{00000000-0000-0000-0000-000000000000}"/>
          </ac:spMkLst>
        </pc:spChg>
      </pc:sldChg>
      <pc:sldChg chg="addSp modSp mod">
        <pc:chgData name="Antoine Ward" userId="b8108188a7264f06" providerId="LiveId" clId="{2920E0A5-57BD-4727-A11C-7581BF6B936C}" dt="2026-07-14T02:05:27.636" v="252" actId="20577"/>
        <pc:sldMkLst>
          <pc:docMk/>
          <pc:sldMk cId="0" sldId="263"/>
        </pc:sldMkLst>
        <pc:spChg chg="mod">
          <ac:chgData name="Antoine Ward" userId="b8108188a7264f06" providerId="LiveId" clId="{2920E0A5-57BD-4727-A11C-7581BF6B936C}" dt="2026-07-14T02:05:27.636" v="252" actId="20577"/>
          <ac:spMkLst>
            <pc:docMk/>
            <pc:sldMk cId="0" sldId="263"/>
            <ac:spMk id="2" creationId="{00000000-0000-0000-0000-000000000000}"/>
          </ac:spMkLst>
        </pc:spChg>
        <pc:spChg chg="add mod">
          <ac:chgData name="Antoine Ward" userId="b8108188a7264f06" providerId="LiveId" clId="{2920E0A5-57BD-4727-A11C-7581BF6B936C}" dt="2026-07-14T02:05:14.480" v="228" actId="255"/>
          <ac:spMkLst>
            <pc:docMk/>
            <pc:sldMk cId="0" sldId="263"/>
            <ac:spMk id="4" creationId="{E0D1407D-1E7B-5B08-2985-844BE13B2AB4}"/>
          </ac:spMkLst>
        </pc:spChg>
      </pc:sldChg>
      <pc:sldChg chg="modSp del mod">
        <pc:chgData name="Antoine Ward" userId="b8108188a7264f06" providerId="LiveId" clId="{2920E0A5-57BD-4727-A11C-7581BF6B936C}" dt="2026-07-14T02:05:33.316" v="253" actId="2696"/>
        <pc:sldMkLst>
          <pc:docMk/>
          <pc:sldMk cId="0" sldId="264"/>
        </pc:sldMkLst>
        <pc:spChg chg="mod">
          <ac:chgData name="Antoine Ward" userId="b8108188a7264f06" providerId="LiveId" clId="{2920E0A5-57BD-4727-A11C-7581BF6B936C}" dt="2026-07-14T02:04:39.014" v="220" actId="21"/>
          <ac:spMkLst>
            <pc:docMk/>
            <pc:sldMk cId="0" sldId="264"/>
            <ac:spMk id="3" creationId="{00000000-0000-0000-0000-000000000000}"/>
          </ac:spMkLst>
        </pc:spChg>
      </pc:sldChg>
      <pc:sldChg chg="addSp modSp mod">
        <pc:chgData name="Antoine Ward" userId="b8108188a7264f06" providerId="LiveId" clId="{2920E0A5-57BD-4727-A11C-7581BF6B936C}" dt="2026-07-14T02:08:13.975" v="296" actId="12"/>
        <pc:sldMkLst>
          <pc:docMk/>
          <pc:sldMk cId="0" sldId="265"/>
        </pc:sldMkLst>
        <pc:spChg chg="mod">
          <ac:chgData name="Antoine Ward" userId="b8108188a7264f06" providerId="LiveId" clId="{2920E0A5-57BD-4727-A11C-7581BF6B936C}" dt="2026-07-14T02:07:14.333" v="289" actId="113"/>
          <ac:spMkLst>
            <pc:docMk/>
            <pc:sldMk cId="0" sldId="265"/>
            <ac:spMk id="2" creationId="{00000000-0000-0000-0000-000000000000}"/>
          </ac:spMkLst>
        </pc:spChg>
        <pc:spChg chg="add mod">
          <ac:chgData name="Antoine Ward" userId="b8108188a7264f06" providerId="LiveId" clId="{2920E0A5-57BD-4727-A11C-7581BF6B936C}" dt="2026-07-14T02:08:13.975" v="296" actId="12"/>
          <ac:spMkLst>
            <pc:docMk/>
            <pc:sldMk cId="0" sldId="265"/>
            <ac:spMk id="4" creationId="{68ABF10F-81B7-CCA6-CBA4-2F92FCE4D3C8}"/>
          </ac:spMkLst>
        </pc:spChg>
      </pc:sldChg>
      <pc:sldChg chg="modSp del mod">
        <pc:chgData name="Antoine Ward" userId="b8108188a7264f06" providerId="LiveId" clId="{2920E0A5-57BD-4727-A11C-7581BF6B936C}" dt="2026-07-14T02:08:38.908" v="297" actId="2696"/>
        <pc:sldMkLst>
          <pc:docMk/>
          <pc:sldMk cId="0" sldId="266"/>
        </pc:sldMkLst>
        <pc:spChg chg="mod">
          <ac:chgData name="Antoine Ward" userId="b8108188a7264f06" providerId="LiveId" clId="{2920E0A5-57BD-4727-A11C-7581BF6B936C}" dt="2026-07-14T02:07:28.992" v="290" actId="21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ntoine Ward" userId="b8108188a7264f06" providerId="LiveId" clId="{2920E0A5-57BD-4727-A11C-7581BF6B936C}" dt="2026-07-14T02:08:54.221" v="304" actId="113"/>
        <pc:sldMkLst>
          <pc:docMk/>
          <pc:sldMk cId="0" sldId="267"/>
        </pc:sldMkLst>
        <pc:spChg chg="mod">
          <ac:chgData name="Antoine Ward" userId="b8108188a7264f06" providerId="LiveId" clId="{2920E0A5-57BD-4727-A11C-7581BF6B936C}" dt="2026-07-14T02:08:54.221" v="304" actId="113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Antoine Ward" userId="b8108188a7264f06" providerId="LiveId" clId="{2920E0A5-57BD-4727-A11C-7581BF6B936C}" dt="2026-07-14T02:09:04.115" v="309" actId="113"/>
        <pc:sldMkLst>
          <pc:docMk/>
          <pc:sldMk cId="0" sldId="268"/>
        </pc:sldMkLst>
        <pc:spChg chg="mod">
          <ac:chgData name="Antoine Ward" userId="b8108188a7264f06" providerId="LiveId" clId="{2920E0A5-57BD-4727-A11C-7581BF6B936C}" dt="2026-07-14T02:09:04.115" v="309" actId="113"/>
          <ac:spMkLst>
            <pc:docMk/>
            <pc:sldMk cId="0" sldId="268"/>
            <ac:spMk id="2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00:34.272" v="125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Antoine Ward" userId="b8108188a7264f06" providerId="LiveId" clId="{2920E0A5-57BD-4727-A11C-7581BF6B936C}" dt="2026-07-14T02:09:35.792" v="320" actId="113"/>
        <pc:sldMkLst>
          <pc:docMk/>
          <pc:sldMk cId="0" sldId="269"/>
        </pc:sldMkLst>
        <pc:spChg chg="mod">
          <ac:chgData name="Antoine Ward" userId="b8108188a7264f06" providerId="LiveId" clId="{2920E0A5-57BD-4727-A11C-7581BF6B936C}" dt="2026-07-14T02:09:35.792" v="320" actId="113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Antoine Ward" userId="b8108188a7264f06" providerId="LiveId" clId="{2920E0A5-57BD-4727-A11C-7581BF6B936C}" dt="2026-07-14T02:10:00.359" v="336" actId="113"/>
        <pc:sldMkLst>
          <pc:docMk/>
          <pc:sldMk cId="0" sldId="270"/>
        </pc:sldMkLst>
        <pc:spChg chg="mod">
          <ac:chgData name="Antoine Ward" userId="b8108188a7264f06" providerId="LiveId" clId="{2920E0A5-57BD-4727-A11C-7581BF6B936C}" dt="2026-07-14T02:10:00.359" v="336" actId="113"/>
          <ac:spMkLst>
            <pc:docMk/>
            <pc:sldMk cId="0" sldId="270"/>
            <ac:spMk id="2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00:34.272" v="125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Antoine Ward" userId="b8108188a7264f06" providerId="LiveId" clId="{2920E0A5-57BD-4727-A11C-7581BF6B936C}" dt="2026-07-14T02:10:13.565" v="343" actId="113"/>
        <pc:sldMkLst>
          <pc:docMk/>
          <pc:sldMk cId="0" sldId="271"/>
        </pc:sldMkLst>
        <pc:spChg chg="mod">
          <ac:chgData name="Antoine Ward" userId="b8108188a7264f06" providerId="LiveId" clId="{2920E0A5-57BD-4727-A11C-7581BF6B936C}" dt="2026-07-14T02:10:13.565" v="343" actId="113"/>
          <ac:spMkLst>
            <pc:docMk/>
            <pc:sldMk cId="0" sldId="271"/>
            <ac:spMk id="2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00:34.272" v="125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Antoine Ward" userId="b8108188a7264f06" providerId="LiveId" clId="{2920E0A5-57BD-4727-A11C-7581BF6B936C}" dt="2026-07-14T02:10:18.636" v="344" actId="113"/>
        <pc:sldMkLst>
          <pc:docMk/>
          <pc:sldMk cId="0" sldId="272"/>
        </pc:sldMkLst>
        <pc:spChg chg="mod">
          <ac:chgData name="Antoine Ward" userId="b8108188a7264f06" providerId="LiveId" clId="{2920E0A5-57BD-4727-A11C-7581BF6B936C}" dt="2026-07-14T02:10:18.636" v="344" actId="113"/>
          <ac:spMkLst>
            <pc:docMk/>
            <pc:sldMk cId="0" sldId="272"/>
            <ac:spMk id="2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00:34.272" v="125"/>
          <ac:spMkLst>
            <pc:docMk/>
            <pc:sldMk cId="0" sldId="272"/>
            <ac:spMk id="3" creationId="{00000000-0000-0000-0000-000000000000}"/>
          </ac:spMkLst>
        </pc:spChg>
      </pc:sldChg>
      <pc:sldChg chg="modSp mod setBg">
        <pc:chgData name="Antoine Ward" userId="b8108188a7264f06" providerId="LiveId" clId="{2920E0A5-57BD-4727-A11C-7581BF6B936C}" dt="2026-07-14T02:10:24.546" v="347" actId="20577"/>
        <pc:sldMkLst>
          <pc:docMk/>
          <pc:sldMk cId="0" sldId="273"/>
        </pc:sldMkLst>
        <pc:spChg chg="mod">
          <ac:chgData name="Antoine Ward" userId="b8108188a7264f06" providerId="LiveId" clId="{2920E0A5-57BD-4727-A11C-7581BF6B936C}" dt="2026-07-14T02:10:24.546" v="347" actId="20577"/>
          <ac:spMkLst>
            <pc:docMk/>
            <pc:sldMk cId="0" sldId="273"/>
            <ac:spMk id="2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00:34.272" v="125"/>
          <ac:spMkLst>
            <pc:docMk/>
            <pc:sldMk cId="0" sldId="273"/>
            <ac:spMk id="3" creationId="{00000000-0000-0000-0000-000000000000}"/>
          </ac:spMkLst>
        </pc:spChg>
      </pc:sldChg>
      <pc:sldChg chg="modSp mod setBg">
        <pc:chgData name="Antoine Ward" userId="b8108188a7264f06" providerId="LiveId" clId="{2920E0A5-57BD-4727-A11C-7581BF6B936C}" dt="2026-07-14T02:10:28.596" v="348" actId="113"/>
        <pc:sldMkLst>
          <pc:docMk/>
          <pc:sldMk cId="0" sldId="274"/>
        </pc:sldMkLst>
        <pc:spChg chg="mod">
          <ac:chgData name="Antoine Ward" userId="b8108188a7264f06" providerId="LiveId" clId="{2920E0A5-57BD-4727-A11C-7581BF6B936C}" dt="2026-07-14T02:10:28.596" v="348" actId="113"/>
          <ac:spMkLst>
            <pc:docMk/>
            <pc:sldMk cId="0" sldId="274"/>
            <ac:spMk id="2" creationId="{00000000-0000-0000-0000-000000000000}"/>
          </ac:spMkLst>
        </pc:spChg>
        <pc:spChg chg="mod">
          <ac:chgData name="Antoine Ward" userId="b8108188a7264f06" providerId="LiveId" clId="{2920E0A5-57BD-4727-A11C-7581BF6B936C}" dt="2026-07-14T02:00:34.272" v="125"/>
          <ac:spMkLst>
            <pc:docMk/>
            <pc:sldMk cId="0" sldId="274"/>
            <ac:spMk id="3" creationId="{00000000-0000-0000-0000-000000000000}"/>
          </ac:spMkLst>
        </pc:spChg>
      </pc:sldChg>
      <pc:sldMasterChg chg="setBg modSldLayout">
        <pc:chgData name="Antoine Ward" userId="b8108188a7264f06" providerId="LiveId" clId="{2920E0A5-57BD-4727-A11C-7581BF6B936C}" dt="2026-07-14T02:01:02.542" v="127"/>
        <pc:sldMasterMkLst>
          <pc:docMk/>
          <pc:sldMasterMk cId="3676200875" sldId="2147483648"/>
        </pc:sldMasterMkLst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1444357513" sldId="2147483649"/>
          </pc:sldLayoutMkLst>
        </pc:sldLayoutChg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338346009" sldId="2147483650"/>
          </pc:sldLayoutMkLst>
        </pc:sldLayoutChg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1073069076" sldId="2147483651"/>
          </pc:sldLayoutMkLst>
        </pc:sldLayoutChg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2619886245" sldId="2147483652"/>
          </pc:sldLayoutMkLst>
        </pc:sldLayoutChg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2535793967" sldId="2147483653"/>
          </pc:sldLayoutMkLst>
        </pc:sldLayoutChg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3472721253" sldId="2147483654"/>
          </pc:sldLayoutMkLst>
        </pc:sldLayoutChg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2130901097" sldId="2147483655"/>
          </pc:sldLayoutMkLst>
        </pc:sldLayoutChg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3540895647" sldId="2147483656"/>
          </pc:sldLayoutMkLst>
        </pc:sldLayoutChg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3566899855" sldId="2147483657"/>
          </pc:sldLayoutMkLst>
        </pc:sldLayoutChg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313914798" sldId="2147483658"/>
          </pc:sldLayoutMkLst>
        </pc:sldLayoutChg>
        <pc:sldLayoutChg chg="setBg">
          <pc:chgData name="Antoine Ward" userId="b8108188a7264f06" providerId="LiveId" clId="{2920E0A5-57BD-4727-A11C-7581BF6B936C}" dt="2026-07-14T02:01:02.542" v="127"/>
          <pc:sldLayoutMkLst>
            <pc:docMk/>
            <pc:sldMasterMk cId="3676200875" sldId="2147483648"/>
            <pc:sldLayoutMk cId="258152904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Career Readiness: What Students See vs. What Supervisors See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rPr dirty="0">
                <a:solidFill>
                  <a:schemeClr val="tx1"/>
                </a:solidFill>
              </a:rPr>
              <a:t>Debrief: Career Readiness Survey Analysis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Antoine Ward, MPH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solidFill>
                  <a:schemeClr val="tx1"/>
                </a:solidFill>
              </a:rPr>
              <a:t>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The </a:t>
            </a:r>
            <a:r>
              <a:rPr lang="en-US" b="1" dirty="0"/>
              <a:t>Q</a:t>
            </a:r>
            <a:r>
              <a:rPr b="1" dirty="0"/>
              <a:t>uestion </a:t>
            </a:r>
            <a:r>
              <a:rPr lang="en-US" b="1" dirty="0"/>
              <a:t>W</a:t>
            </a:r>
            <a:r>
              <a:rPr b="1" dirty="0"/>
              <a:t>e </a:t>
            </a:r>
            <a:r>
              <a:rPr lang="en-US" b="1" dirty="0"/>
              <a:t>A</a:t>
            </a:r>
            <a:r>
              <a:rPr b="1" dirty="0"/>
              <a:t>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Do students and their workplace supervisors see student career readiness the same way?</a:t>
            </a:r>
          </a:p>
          <a:p>
            <a:pPr lvl="0"/>
            <a:r>
              <a:t>~</a:t>
            </a:r>
            <a:r>
              <a:rPr b="1"/>
              <a:t>840 students</a:t>
            </a:r>
            <a:r>
              <a:t> rated themselves on 22 competencies</a:t>
            </a:r>
          </a:p>
          <a:p>
            <a:pPr lvl="0"/>
            <a:r>
              <a:t>~</a:t>
            </a:r>
            <a:r>
              <a:rPr b="1"/>
              <a:t>1,000 supervisors</a:t>
            </a:r>
            <a:r>
              <a:t> rated students on the </a:t>
            </a:r>
            <a:r>
              <a:rPr i="1"/>
              <a:t>identical</a:t>
            </a:r>
            <a:r>
              <a:t> 22</a:t>
            </a:r>
          </a:p>
          <a:p>
            <a:pPr lvl="0"/>
            <a:r>
              <a:t>Competencies roll up to </a:t>
            </a:r>
            <a:r>
              <a:rPr b="1"/>
              <a:t>7 NACE career readiness dimensions</a:t>
            </a:r>
          </a:p>
          <a:p>
            <a:pPr lvl="0"/>
            <a:r>
              <a:t>Rating scale: </a:t>
            </a:r>
            <a:r>
              <a:rPr b="1"/>
              <a:t>1–4</a:t>
            </a:r>
          </a:p>
          <a:p>
            <a:pPr marL="0" lvl="0" indent="0">
              <a:buNone/>
            </a:pPr>
            <a:r>
              <a:t>Same questions, two vantage points, so every disagreement is a </a:t>
            </a:r>
            <a:r>
              <a:rPr i="1"/>
              <a:t>perception gap</a:t>
            </a:r>
            <a:r>
              <a:t> we can measure.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The </a:t>
            </a:r>
            <a:r>
              <a:rPr lang="en-US" b="1" dirty="0"/>
              <a:t>H</a:t>
            </a:r>
            <a:r>
              <a:rPr b="1" dirty="0"/>
              <a:t>eadline </a:t>
            </a:r>
            <a:r>
              <a:rPr lang="en-US" b="1" dirty="0"/>
              <a:t>F</a:t>
            </a:r>
            <a:r>
              <a:rPr b="1" dirty="0"/>
              <a:t>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Students under-rate themselves</a:t>
            </a:r>
          </a:p>
          <a:p>
            <a:pPr marL="0" lvl="0" indent="0">
              <a:buNone/>
            </a:pPr>
            <a:r>
              <a:t>on </a:t>
            </a:r>
            <a:r>
              <a:rPr b="1"/>
              <a:t>all seven</a:t>
            </a:r>
            <a:r>
              <a:t> dimensions.</a:t>
            </a:r>
          </a:p>
          <a:p>
            <a:pPr marL="0" lvl="0" indent="0">
              <a:buNone/>
            </a:pPr>
            <a:r>
              <a:t>Not overconfidence: a </a:t>
            </a:r>
            <a:r>
              <a:rPr b="1"/>
              <a:t>confidence gap</a:t>
            </a:r>
            <a:r>
              <a:t>. The opposite of what the conventional wisdom predicts.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Self vs. </a:t>
            </a:r>
            <a:r>
              <a:rPr lang="en-US" b="1" dirty="0"/>
              <a:t>S</a:t>
            </a:r>
            <a:r>
              <a:rPr b="1" dirty="0"/>
              <a:t>upervisor by </a:t>
            </a:r>
            <a:r>
              <a:rPr lang="en-US" b="1" dirty="0"/>
              <a:t>D</a:t>
            </a:r>
            <a:r>
              <a:rPr b="1" dirty="0"/>
              <a:t>imension</a:t>
            </a:r>
          </a:p>
        </p:txBody>
      </p:sp>
      <p:pic>
        <p:nvPicPr>
          <p:cNvPr id="3" name="Picture 1" descr="debrief_files/figure-pptx/dumbbell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233" y="204787"/>
            <a:ext cx="3284282" cy="87153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3300" dirty="0"/>
              <a:t>The </a:t>
            </a:r>
            <a:r>
              <a:rPr lang="en-US" sz="3300" dirty="0"/>
              <a:t>F</a:t>
            </a:r>
            <a:r>
              <a:rPr sz="3300" dirty="0"/>
              <a:t>ull </a:t>
            </a:r>
            <a:r>
              <a:rPr lang="en-US" sz="3300" dirty="0"/>
              <a:t>R</a:t>
            </a:r>
            <a:r>
              <a:rPr sz="3300" dirty="0"/>
              <a:t>anking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1233" y="1076326"/>
            <a:ext cx="3206495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600" dirty="0"/>
              <a:t>Strongest to weakest, side by side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181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Student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Student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Supervisor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Supervisor 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Professionalism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Teamwork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Critical Thinking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Career &amp; Self-Development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DB7989-5142-B288-9065-2A2AA84AEF65}"/>
              </a:ext>
            </a:extLst>
          </p:cNvPr>
          <p:cNvSpPr txBox="1"/>
          <p:nvPr/>
        </p:nvSpPr>
        <p:spPr>
          <a:xfrm>
            <a:off x="4029299" y="3496905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order barely changes between raters. Professionalism and Teamwork sit at the top for both; Leadership and Career &amp; Self-Development sit at the bottom.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Where the </a:t>
            </a:r>
            <a:r>
              <a:rPr lang="en-US" b="1" dirty="0"/>
              <a:t>G</a:t>
            </a:r>
            <a:r>
              <a:rPr b="1" dirty="0"/>
              <a:t>ap is </a:t>
            </a:r>
            <a:r>
              <a:rPr lang="en-US" b="1" dirty="0"/>
              <a:t>L</a:t>
            </a:r>
            <a:r>
              <a:rPr b="1" dirty="0"/>
              <a:t>argest</a:t>
            </a:r>
          </a:p>
        </p:txBody>
      </p:sp>
      <p:pic>
        <p:nvPicPr>
          <p:cNvPr id="3" name="Picture 1" descr="debrief_files/figure-pptx/gapchar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The </a:t>
            </a:r>
            <a:r>
              <a:rPr lang="en-US" b="1" dirty="0"/>
              <a:t>Numbers Behind the Gaps</a:t>
            </a:r>
            <a:endParaRPr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191500" cy="258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Cohen’s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Career &amp; Self-Development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Professionalism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Teamwork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Critical Thinking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-0.08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0D1407D-1E7B-5B08-2985-844BE13B2AB4}"/>
              </a:ext>
            </a:extLst>
          </p:cNvPr>
          <p:cNvSpPr txBox="1"/>
          <p:nvPr/>
        </p:nvSpPr>
        <p:spPr>
          <a:xfrm>
            <a:off x="457200" y="3985233"/>
            <a:ext cx="8191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Every row reads student under-rates: the pattern is perfectly consistent, even where the gap itself is small.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Two </a:t>
            </a:r>
            <a:r>
              <a:rPr lang="en-US" b="1" dirty="0"/>
              <a:t>D</a:t>
            </a:r>
            <a:r>
              <a:rPr b="1" dirty="0"/>
              <a:t>ifferent “</a:t>
            </a:r>
            <a:r>
              <a:rPr lang="en-US" b="1" dirty="0"/>
              <a:t>W</a:t>
            </a:r>
            <a:r>
              <a:rPr b="1" dirty="0"/>
              <a:t>eakest” </a:t>
            </a:r>
            <a:r>
              <a:rPr lang="en-US" b="1" dirty="0"/>
              <a:t>D</a:t>
            </a:r>
            <a:r>
              <a:rPr b="1" dirty="0"/>
              <a:t>imensions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Vantage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Weakest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Students (self)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Career &amp; Self-Development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2.92 /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Supervisors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3.14 /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8ABF10F-81B7-CCA6-CBA4-2F92FCE4D3C8}"/>
              </a:ext>
            </a:extLst>
          </p:cNvPr>
          <p:cNvSpPr txBox="1"/>
          <p:nvPr/>
        </p:nvSpPr>
        <p:spPr>
          <a:xfrm>
            <a:off x="457200" y="2437831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That divergence is the insight: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Leadership is weakest by external assessment: the clear skill-development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Career &amp; Self-Development combines students’ lowest self-rating and their largest under-estimate (−0.24): a confidence &amp; awareness target, not just a skill 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Inside the </a:t>
            </a:r>
            <a:r>
              <a:rPr lang="en-US" b="1" dirty="0"/>
              <a:t>D</a:t>
            </a:r>
            <a:r>
              <a:rPr b="1" dirty="0"/>
              <a:t>imensions: </a:t>
            </a:r>
            <a:r>
              <a:rPr lang="en-US" b="1" dirty="0"/>
              <a:t>A</a:t>
            </a:r>
            <a:r>
              <a:rPr b="1" dirty="0"/>
              <a:t>ll 22 </a:t>
            </a:r>
            <a:r>
              <a:rPr lang="en-US" b="1" dirty="0"/>
              <a:t>C</a:t>
            </a:r>
            <a:r>
              <a:rPr b="1" dirty="0"/>
              <a:t>ompetencies</a:t>
            </a:r>
          </a:p>
        </p:txBody>
      </p:sp>
      <p:pic>
        <p:nvPicPr>
          <p:cNvPr id="3" name="Picture 1" descr="debrief_files/figure-pptx/heatmap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What the </a:t>
            </a:r>
            <a:r>
              <a:rPr lang="en-US" b="1" dirty="0"/>
              <a:t>H</a:t>
            </a:r>
            <a:r>
              <a:rPr b="1" dirty="0"/>
              <a:t>eatmap </a:t>
            </a:r>
            <a:r>
              <a:rPr lang="en-US" b="1" dirty="0"/>
              <a:t>A</a:t>
            </a:r>
            <a:r>
              <a:rPr b="1" dirty="0"/>
              <a:t>dds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t>Dimension averages can hide uneven competencies. Three details worth naming:</a:t>
            </a:r>
          </a:p>
          <a:p>
            <a:pPr lvl="0"/>
            <a:r>
              <a:rPr b="1"/>
              <a:t>Act with Integrity</a:t>
            </a:r>
            <a:r>
              <a:t> and </a:t>
            </a:r>
            <a:r>
              <a:rPr b="1"/>
              <a:t>Demonstrate Dependability</a:t>
            </a:r>
            <a:r>
              <a:t> are the highest-rated competencies overall: the engine behind Professionalism’s top ranking.</a:t>
            </a:r>
          </a:p>
          <a:p>
            <a:pPr lvl="0"/>
            <a:r>
              <a:t>Within Leadership, the weakness is not uniform: </a:t>
            </a:r>
            <a:r>
              <a:rPr i="1"/>
              <a:t>Inspire, Persuade &amp; Motivate</a:t>
            </a:r>
            <a:r>
              <a:t> sits lower than </a:t>
            </a:r>
            <a:r>
              <a:rPr i="1"/>
              <a:t>Engage Resources &amp; Seek Feedback</a:t>
            </a:r>
            <a:r>
              <a:t>, so leadership programming should target influence skills specifically, not leadership generically.</a:t>
            </a:r>
          </a:p>
          <a:p>
            <a:pPr lvl="0"/>
            <a:r>
              <a:rPr b="1"/>
              <a:t>Networking</a:t>
            </a:r>
            <a:r>
              <a:t> is among students’ lowest self-ratings, consistent with the Career &amp; Self-Development confidence 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Individuals </a:t>
            </a:r>
            <a:r>
              <a:rPr lang="en-US" b="1" dirty="0"/>
              <a:t>V</a:t>
            </a:r>
            <a:r>
              <a:rPr b="1" dirty="0"/>
              <a:t>ary </a:t>
            </a:r>
            <a:r>
              <a:rPr lang="en-US" b="1" dirty="0"/>
              <a:t>M</a:t>
            </a:r>
            <a:r>
              <a:rPr b="1" dirty="0"/>
              <a:t>ore </a:t>
            </a:r>
            <a:r>
              <a:rPr lang="en-US" b="1" dirty="0"/>
              <a:t>T</a:t>
            </a:r>
            <a:r>
              <a:rPr b="1" dirty="0"/>
              <a:t>han </a:t>
            </a:r>
            <a:r>
              <a:rPr lang="en-US" b="1" dirty="0"/>
              <a:t>G</a:t>
            </a:r>
            <a:r>
              <a:rPr b="1" dirty="0"/>
              <a:t>roups </a:t>
            </a:r>
            <a:r>
              <a:rPr lang="en-US" b="1" dirty="0"/>
              <a:t>D</a:t>
            </a:r>
            <a:r>
              <a:rPr b="1" dirty="0"/>
              <a:t>iffer</a:t>
            </a:r>
          </a:p>
        </p:txBody>
      </p:sp>
      <p:pic>
        <p:nvPicPr>
          <p:cNvPr id="3" name="Picture 1" descr="debrief_files/figure-pptx/spread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How </a:t>
            </a:r>
            <a:r>
              <a:rPr lang="en-US" b="1" dirty="0"/>
              <a:t>B</a:t>
            </a:r>
            <a:r>
              <a:rPr b="1" dirty="0"/>
              <a:t>ig </a:t>
            </a:r>
            <a:r>
              <a:rPr lang="en-US" b="1" dirty="0"/>
              <a:t>A</a:t>
            </a:r>
            <a:r>
              <a:rPr b="1" dirty="0"/>
              <a:t>re </a:t>
            </a:r>
            <a:r>
              <a:rPr lang="en-US" b="1" dirty="0"/>
              <a:t>T</a:t>
            </a:r>
            <a:r>
              <a:rPr b="1" dirty="0"/>
              <a:t>hese </a:t>
            </a:r>
            <a:r>
              <a:rPr lang="en-US" b="1" dirty="0"/>
              <a:t>G</a:t>
            </a:r>
            <a:r>
              <a:rPr b="1" dirty="0"/>
              <a:t>aps, </a:t>
            </a:r>
            <a:r>
              <a:rPr lang="en-US" b="1" dirty="0"/>
              <a:t>H</a:t>
            </a:r>
            <a:r>
              <a:rPr b="1" dirty="0"/>
              <a:t>onestly?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b="1"/>
              <a:t>Cohen’s d</a:t>
            </a:r>
            <a:r>
              <a:t> answers one question: </a:t>
            </a:r>
            <a:r>
              <a:rPr i="1"/>
              <a:t>“Is this gap large enough to matter, or just noise?”</a:t>
            </a:r>
            <a:r>
              <a:t> It rescales the raw gap by how spread out people’s scores naturally are: the spread you just saw. A 0.24-point gap on a tight, consistent dimension counts for more than the same 0.24 points where scores bounce around.</a:t>
            </a:r>
          </a:p>
          <a:p>
            <a:pPr marL="0" lvl="0" indent="0">
              <a:buNone/>
            </a:pPr>
            <a:r>
              <a:rPr b="1"/>
              <a:t>Rule of thumb:</a:t>
            </a:r>
          </a:p>
          <a:p>
            <a:pPr marL="0" lvl="0" indent="0">
              <a:buNone/>
            </a:pPr>
            <a:r>
              <a:t>Our largest gap (Career &amp; Self-Development) is </a:t>
            </a:r>
            <a:r>
              <a:rPr b="1"/>
              <a:t>d = −0.29</a:t>
            </a:r>
            <a:r>
              <a:t> (small). </a:t>
            </a:r>
            <a:r>
              <a:rPr b="1"/>
              <a:t>No dimension reaches 0.5.</a:t>
            </a:r>
          </a:p>
          <a:p>
            <a:pPr marL="0" lvl="0" indent="0">
              <a:buNone/>
            </a:pPr>
            <a:r>
              <a:rPr b="1"/>
              <a:t>Translation:</a:t>
            </a:r>
            <a:r>
              <a:t> students and supervisors are </a:t>
            </a:r>
            <a:r>
              <a:rPr i="1"/>
              <a:t>broadly calibrated</a:t>
            </a:r>
            <a:r>
              <a:t>. These gaps are </a:t>
            </a:r>
            <a:r>
              <a:rPr b="1"/>
              <a:t>monitor items, not crises</a:t>
            </a:r>
            <a:r>
              <a:t>, but their perfect directional consistency (7 of 7 negative) is a real pattern worth acting on regardless of size.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One </a:t>
            </a:r>
            <a:r>
              <a:rPr lang="en-US" b="1" dirty="0"/>
              <a:t>A</a:t>
            </a:r>
            <a:r>
              <a:rPr b="1" dirty="0"/>
              <a:t>greement </a:t>
            </a:r>
            <a:r>
              <a:rPr lang="en-US" b="1" dirty="0"/>
              <a:t>W</a:t>
            </a:r>
            <a:r>
              <a:rPr b="1" dirty="0"/>
              <a:t>orth </a:t>
            </a:r>
            <a:r>
              <a:rPr lang="en-US" b="1" dirty="0"/>
              <a:t>N</a:t>
            </a:r>
            <a:r>
              <a:rPr b="1" dirty="0"/>
              <a:t>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Rated by  Mean (1-4)    N
Observer       3.521 1002
 Student       3.410  841</a:t>
            </a:r>
          </a:p>
          <a:p>
            <a:pPr marL="0" lvl="0" indent="0">
              <a:buNone/>
            </a:pPr>
            <a:r>
              <a:t>Both groups rank </a:t>
            </a:r>
            <a:r>
              <a:rPr b="1"/>
              <a:t>Professionalism</a:t>
            </a:r>
            <a:r>
              <a:t> as the top strength (3.41 self, 3.52 supervisor). Agreement at the top says the assessment is coherent, which strengthens confidence in the gaps.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buAutoNum type="arabicPeriod"/>
            </a:pPr>
            <a:r>
              <a:rPr sz="1600" b="1" dirty="0"/>
              <a:t>Build skills where supervisors see the need: Leadership</a:t>
            </a:r>
            <a:r>
              <a:rPr sz="1600" dirty="0"/>
              <a:t> (3.14/4). Prioritize facilitation, delegation, and peer-leadership practice inside experiential placements (e.g., rotate students through a project-lead role for at least one deliverable per placement).</a:t>
            </a:r>
          </a:p>
          <a:p>
            <a:pPr marL="342900" lvl="0" indent="-342900">
              <a:buAutoNum type="arabicPeriod"/>
            </a:pPr>
            <a:r>
              <a:rPr sz="1600" b="1" dirty="0"/>
              <a:t>Build confidence where students underclaim: Career &amp; Self-Development.</a:t>
            </a:r>
            <a:r>
              <a:rPr sz="1600" dirty="0"/>
              <a:t> Students demonstrate more competence than they recognize; add structured self-assessment checkpoints and strengths-based reflection at the midpoint and end of each placement.</a:t>
            </a:r>
          </a:p>
          <a:p>
            <a:pPr marL="342900" lvl="0" indent="-342900">
              <a:buAutoNum type="arabicPeriod"/>
            </a:pPr>
            <a:r>
              <a:rPr sz="1600" b="1" dirty="0"/>
              <a:t>Close the calibration loop: structured supervisor feedback.</a:t>
            </a:r>
            <a:r>
              <a:rPr sz="1600" dirty="0"/>
              <a:t> The uniform under-rating suggests students rarely </a:t>
            </a:r>
            <a:r>
              <a:rPr sz="1600" i="1" dirty="0"/>
              <a:t>hear</a:t>
            </a:r>
            <a:r>
              <a:rPr sz="1600" dirty="0"/>
              <a:t> how supervisors rate them. Build a short mid-placement feedback conversation into every experiential learning opportunity; even 15 minutes moves the needle.</a:t>
            </a:r>
          </a:p>
          <a:p>
            <a:pPr marL="342900" lvl="0" indent="-342900">
              <a:buAutoNum type="arabicPeriod"/>
            </a:pPr>
            <a:r>
              <a:rPr sz="1600" b="1" dirty="0"/>
              <a:t>Track this survey longitudinally.</a:t>
            </a:r>
            <a:r>
              <a:rPr sz="1600" dirty="0"/>
              <a:t> Re-run it each term to see whether the gap narrows as feedback practices take hold, turning this one-time snapshot into a measure of program impact.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0000">
              <a:schemeClr val="accent1">
                <a:lumMod val="45000"/>
                <a:lumOff val="55000"/>
              </a:schemeClr>
            </a:gs>
            <a:gs pos="8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Methodology &amp; </a:t>
            </a:r>
            <a:r>
              <a:rPr lang="en-US" b="1" dirty="0"/>
              <a:t>C</a:t>
            </a:r>
            <a:r>
              <a:rPr b="1" dirty="0"/>
              <a:t>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sz="2000" b="1" dirty="0"/>
              <a:t>Pipeline:</a:t>
            </a:r>
            <a:r>
              <a:rPr sz="2000" dirty="0"/>
              <a:t> medallion </a:t>
            </a:r>
            <a:r>
              <a:rPr sz="2000" dirty="0" err="1"/>
              <a:t>lakehouse</a:t>
            </a:r>
            <a:r>
              <a:rPr sz="2000" dirty="0"/>
              <a:t> (Bronze → Silver → Gold) on Databricks; analysis reproducible in SQL, </a:t>
            </a:r>
            <a:r>
              <a:rPr sz="2000" dirty="0" err="1"/>
              <a:t>PySpark</a:t>
            </a:r>
            <a:r>
              <a:rPr sz="2000" dirty="0"/>
              <a:t>, and R</a:t>
            </a:r>
          </a:p>
          <a:p>
            <a:pPr lvl="0"/>
            <a:r>
              <a:rPr sz="2000" b="1" dirty="0"/>
              <a:t>Unit of analysis:</a:t>
            </a:r>
            <a:r>
              <a:rPr sz="2000" dirty="0"/>
              <a:t> dimension scores averaged </a:t>
            </a:r>
            <a:r>
              <a:rPr sz="2000" i="1" dirty="0"/>
              <a:t>within respondent first</a:t>
            </a:r>
            <a:r>
              <a:rPr sz="2000" dirty="0"/>
              <a:t>; effect sizes count people, not survey items</a:t>
            </a:r>
          </a:p>
          <a:p>
            <a:pPr lvl="0"/>
            <a:r>
              <a:rPr sz="2000" b="1" dirty="0"/>
              <a:t>Unpaired comparison:</a:t>
            </a:r>
            <a:r>
              <a:rPr sz="2000" dirty="0"/>
              <a:t> student and supervisor pools, not matched pairs; gaps describe </a:t>
            </a:r>
            <a:r>
              <a:rPr sz="2000" i="1" dirty="0"/>
              <a:t>group-level</a:t>
            </a:r>
            <a:r>
              <a:rPr sz="2000" dirty="0"/>
              <a:t> divergence, not individual miscalibration</a:t>
            </a:r>
          </a:p>
          <a:p>
            <a:pPr lvl="0"/>
            <a:r>
              <a:rPr sz="2000" b="1" dirty="0"/>
              <a:t>Cross-sectional:</a:t>
            </a:r>
            <a:r>
              <a:rPr sz="2000" dirty="0"/>
              <a:t> associations, not causal claims</a:t>
            </a:r>
          </a:p>
          <a:p>
            <a:pPr lvl="0"/>
            <a:r>
              <a:rPr sz="2000" b="1" dirty="0"/>
              <a:t>Scale note:</a:t>
            </a:r>
            <a:r>
              <a:rPr sz="2000" dirty="0"/>
              <a:t> Equity &amp; Inclusion (8th NACE competency) was not surveyed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Code, data pipeline, and full write-up:</a:t>
            </a:r>
            <a:r>
              <a:rPr dirty="0"/>
              <a:t> github.com/antoinewrd1/career-readiness-analytics</a:t>
            </a:r>
          </a:p>
          <a:p>
            <a:pPr marL="0" lvl="0" indent="0">
              <a:buNone/>
            </a:pP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0</TotalTime>
  <Words>937</Words>
  <Application>Microsoft Office PowerPoint</Application>
  <PresentationFormat>On-screen Show (16:9)</PresentationFormat>
  <Paragraphs>142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</vt:lpstr>
      <vt:lpstr>Office Theme</vt:lpstr>
      <vt:lpstr>Career Readiness: What Students See vs. What Supervisors See</vt:lpstr>
      <vt:lpstr>The Question We Asked</vt:lpstr>
      <vt:lpstr>The Headline Finding</vt:lpstr>
      <vt:lpstr>Self vs. Supervisor by Dimension</vt:lpstr>
      <vt:lpstr>The Full Ranking</vt:lpstr>
      <vt:lpstr>Where the Gap is Largest</vt:lpstr>
      <vt:lpstr>The Numbers Behind the Gaps</vt:lpstr>
      <vt:lpstr>Two Different “Weakest” Dimensions</vt:lpstr>
      <vt:lpstr>Inside the Dimensions: All 22 Competencies</vt:lpstr>
      <vt:lpstr>What the Heatmap Adds</vt:lpstr>
      <vt:lpstr>Individuals Vary More Than Groups Differ</vt:lpstr>
      <vt:lpstr>How Big Are These Gaps, Honestly?</vt:lpstr>
      <vt:lpstr>One Agreement Worth Noting</vt:lpstr>
      <vt:lpstr>Recommendations</vt:lpstr>
      <vt:lpstr>Methodology &amp; Caveats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Readiness: What Students See vs. What Supervisors See</dc:title>
  <dc:creator>Antoine Ward, MPH</dc:creator>
  <cp:keywords/>
  <cp:lastModifiedBy>Antoine Ward</cp:lastModifiedBy>
  <cp:revision>1</cp:revision>
  <dcterms:created xsi:type="dcterms:W3CDTF">2026-07-14T01:55:53Z</dcterms:created>
  <dcterms:modified xsi:type="dcterms:W3CDTF">2026-07-14T02:11:38Z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2026-07-13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subtitle">
    <vt:lpwstr>Debrief: Career Readiness Survey Analysis</vt:lpwstr>
  </property>
  <property fmtid="{D5CDD505-2E9C-101B-9397-08002B2CF9AE}" pid="13" name="toc-title">
    <vt:lpwstr>Table of contents</vt:lpwstr>
  </property>
</Properties>
</file>